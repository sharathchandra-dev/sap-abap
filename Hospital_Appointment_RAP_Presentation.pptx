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18fea3a56a4999" /><Relationship Type="http://schemas.openxmlformats.org/officeDocument/2006/relationships/extended-properties" Target="/docProps/app.xml" Id="R67b10b5dc3e4437d" /><Relationship Type="http://schemas.openxmlformats.org/officeDocument/2006/relationships/officeDocument" Target="/ppt/presentation.xml" Id="R8cdb70728c0b47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01753e6ced4510"/>
  </p:sldMasterIdLst>
  <p:notesMasterIdLst>
    <p:notesMasterId xmlns:r="http://schemas.openxmlformats.org/officeDocument/2006/relationships" r:id="Re9b240636d504ebd"/>
  </p:notesMasterIdLst>
  <p:sldIdLst>
    <p:sldId xmlns:r="http://schemas.openxmlformats.org/officeDocument/2006/relationships" id="256" r:id="R46490186df414736"/>
    <p:sldId xmlns:r="http://schemas.openxmlformats.org/officeDocument/2006/relationships" id="257" r:id="R85034753658547c0"/>
    <p:sldId xmlns:r="http://schemas.openxmlformats.org/officeDocument/2006/relationships" id="258" r:id="R0224791fb848401e"/>
    <p:sldId xmlns:r="http://schemas.openxmlformats.org/officeDocument/2006/relationships" id="259" r:id="Rb08d1cda29174bf0"/>
    <p:sldId xmlns:r="http://schemas.openxmlformats.org/officeDocument/2006/relationships" id="260" r:id="R9fb052aa7abc4895"/>
    <p:sldId xmlns:r="http://schemas.openxmlformats.org/officeDocument/2006/relationships" id="261" r:id="R457af4a5c0174061"/>
    <p:sldId xmlns:r="http://schemas.openxmlformats.org/officeDocument/2006/relationships" id="262" r:id="R089caee614e545a9"/>
    <p:sldId xmlns:r="http://schemas.openxmlformats.org/officeDocument/2006/relationships" id="263" r:id="R9a0d51a5d30a4728"/>
    <p:sldId xmlns:r="http://schemas.openxmlformats.org/officeDocument/2006/relationships" id="264" r:id="R36981215f1434e04"/>
    <p:sldId xmlns:r="http://schemas.openxmlformats.org/officeDocument/2006/relationships" id="265" r:id="Rfaa64e5226f842bb"/>
    <p:sldId xmlns:r="http://schemas.openxmlformats.org/officeDocument/2006/relationships" id="266" r:id="Ra0146eff2fce4f1d"/>
    <p:sldId xmlns:r="http://schemas.openxmlformats.org/officeDocument/2006/relationships" id="267" r:id="R281f04798207476c"/>
    <p:sldId xmlns:r="http://schemas.openxmlformats.org/officeDocument/2006/relationships" id="268" r:id="Rb9f85ef6380243ad"/>
    <p:sldId xmlns:r="http://schemas.openxmlformats.org/officeDocument/2006/relationships" id="269" r:id="R81b4b11e72c445da"/>
    <p:sldId xmlns:r="http://schemas.openxmlformats.org/officeDocument/2006/relationships" id="270" r:id="Rdf3f7a9722cf43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bf173c33a482c" /><Relationship Type="http://schemas.openxmlformats.org/officeDocument/2006/relationships/slideMaster" Target="/ppt/slideMasters/slideMaster1.xml" Id="R0a01753e6ced4510" /><Relationship Type="http://schemas.openxmlformats.org/officeDocument/2006/relationships/notesMaster" Target="/ppt/notesMasters/notesMaster1.xml" Id="Re9b240636d504ebd" /><Relationship Type="http://schemas.openxmlformats.org/officeDocument/2006/relationships/presProps" Target="/ppt/presProps.xml" Id="Rbfb64b98244a46f4" /><Relationship Type="http://schemas.openxmlformats.org/officeDocument/2006/relationships/tableStyles" Target="/ppt/tableStyles.xml" Id="R2f7b016d5cd74155" /><Relationship Type="http://schemas.openxmlformats.org/officeDocument/2006/relationships/slide" Target="/ppt/slides/slide1.xml" Id="R46490186df414736" /><Relationship Type="http://schemas.openxmlformats.org/officeDocument/2006/relationships/slide" Target="/ppt/slides/slide2.xml" Id="R85034753658547c0" /><Relationship Type="http://schemas.openxmlformats.org/officeDocument/2006/relationships/slide" Target="/ppt/slides/slide3.xml" Id="R0224791fb848401e" /><Relationship Type="http://schemas.openxmlformats.org/officeDocument/2006/relationships/slide" Target="/ppt/slides/slide4.xml" Id="Rb08d1cda29174bf0" /><Relationship Type="http://schemas.openxmlformats.org/officeDocument/2006/relationships/slide" Target="/ppt/slides/slide5.xml" Id="R9fb052aa7abc4895" /><Relationship Type="http://schemas.openxmlformats.org/officeDocument/2006/relationships/slide" Target="/ppt/slides/slide6.xml" Id="R457af4a5c0174061" /><Relationship Type="http://schemas.openxmlformats.org/officeDocument/2006/relationships/slide" Target="/ppt/slides/slide7.xml" Id="R089caee614e545a9" /><Relationship Type="http://schemas.openxmlformats.org/officeDocument/2006/relationships/slide" Target="/ppt/slides/slide8.xml" Id="R9a0d51a5d30a4728" /><Relationship Type="http://schemas.openxmlformats.org/officeDocument/2006/relationships/slide" Target="/ppt/slides/slide9.xml" Id="R36981215f1434e04" /><Relationship Type="http://schemas.openxmlformats.org/officeDocument/2006/relationships/slide" Target="/ppt/slides/slide10.xml" Id="Rfaa64e5226f842bb" /><Relationship Type="http://schemas.openxmlformats.org/officeDocument/2006/relationships/slide" Target="/ppt/slides/slide11.xml" Id="Ra0146eff2fce4f1d" /><Relationship Type="http://schemas.openxmlformats.org/officeDocument/2006/relationships/slide" Target="/ppt/slides/slide12.xml" Id="R281f04798207476c" /><Relationship Type="http://schemas.openxmlformats.org/officeDocument/2006/relationships/slide" Target="/ppt/slides/slide13.xml" Id="Rb9f85ef6380243ad" /><Relationship Type="http://schemas.openxmlformats.org/officeDocument/2006/relationships/slide" Target="/ppt/slides/slide14.xml" Id="R81b4b11e72c445da" /><Relationship Type="http://schemas.openxmlformats.org/officeDocument/2006/relationships/slide" Target="/ppt/slides/slide15.xml" Id="Rdf3f7a9722cf43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efa353c7948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5ba0fcbf294a60" /><Relationship Type="http://schemas.openxmlformats.org/officeDocument/2006/relationships/notesMaster" Target="/ppt/notesMasters/notesMaster1.xml" Id="Rf5a79e43085e46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c54876f3454941" /><Relationship Type="http://schemas.openxmlformats.org/officeDocument/2006/relationships/notesMaster" Target="/ppt/notesMasters/notesMaster1.xml" Id="R619c080359ab4d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613512179a4aba" /><Relationship Type="http://schemas.openxmlformats.org/officeDocument/2006/relationships/notesMaster" Target="/ppt/notesMasters/notesMaster1.xml" Id="R7e5375bf1c2d4e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9901db83b74375" /><Relationship Type="http://schemas.openxmlformats.org/officeDocument/2006/relationships/notesMaster" Target="/ppt/notesMasters/notesMaster1.xml" Id="Rb4d5e6f16fe841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1b1de03ff749bc" /><Relationship Type="http://schemas.openxmlformats.org/officeDocument/2006/relationships/notesMaster" Target="/ppt/notesMasters/notesMaster1.xml" Id="R49425cf7c1c0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b9a9019d874498" /><Relationship Type="http://schemas.openxmlformats.org/officeDocument/2006/relationships/notesMaster" Target="/ppt/notesMasters/notesMaster1.xml" Id="Rf19dc561cc2d4c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70fcbb84884ba0" /><Relationship Type="http://schemas.openxmlformats.org/officeDocument/2006/relationships/notesMaster" Target="/ppt/notesMasters/notesMaster1.xml" Id="R03eae177df544c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651bb36fe54dea" /><Relationship Type="http://schemas.openxmlformats.org/officeDocument/2006/relationships/notesMaster" Target="/ppt/notesMasters/notesMaster1.xml" Id="R1f8212b2eb8340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da6f82efb44da5" /><Relationship Type="http://schemas.openxmlformats.org/officeDocument/2006/relationships/notesMaster" Target="/ppt/notesMasters/notesMaster1.xml" Id="R270afdec3c4c49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9c912185fd4e41" /><Relationship Type="http://schemas.openxmlformats.org/officeDocument/2006/relationships/notesMaster" Target="/ppt/notesMasters/notesMaster1.xml" Id="R7176a7af2cff48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4968aca76b4930" /><Relationship Type="http://schemas.openxmlformats.org/officeDocument/2006/relationships/notesMaster" Target="/ppt/notesMasters/notesMaster1.xml" Id="R36f8f3310a8941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8ed889594842b1" /><Relationship Type="http://schemas.openxmlformats.org/officeDocument/2006/relationships/notesMaster" Target="/ppt/notesMasters/notesMaster1.xml" Id="R9534b887184648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20ffa3c9cf4b32" /><Relationship Type="http://schemas.openxmlformats.org/officeDocument/2006/relationships/notesMaster" Target="/ppt/notesMasters/notesMaster1.xml" Id="R1eb19312921f4a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0c1196ed69427b" /><Relationship Type="http://schemas.openxmlformats.org/officeDocument/2006/relationships/notesMaster" Target="/ppt/notesMasters/notesMaster1.xml" Id="Rc1dc9058ed8047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1e19f80fd74e2c" /><Relationship Type="http://schemas.openxmlformats.org/officeDocument/2006/relationships/notesMaster" Target="/ppt/notesMasters/notesMaster1.xml" Id="Rdc62592c0c934b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in one sentence: a hospital scheduling and visit-management solution built in ABAP Cloud.</a:t>
            </a:r>
          </a:p>
          <a:p xmlns:a="http://schemas.openxmlformats.org/drawingml/2006/main">
            <a:r>
              <a:t>Name both team members and state that the implementation uses RAP and SAP Fiori Elements.</a:t>
            </a:r>
          </a:p>
          <a:p xmlns:a="http://schemas.openxmlformats.org/drawingml/2006/main">
            <a:r>
              <a:t>Set the expectation that the demonstration will focus on draft editing, value help, validation, and a clean-core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work as a business system, not only a technical exercise.</a:t>
            </a:r>
          </a:p>
          <a:p xmlns:a="http://schemas.openxmlformats.org/drawingml/2006/main">
            <a:r>
              <a:t>The five domains are appointments, patients, doctors, departments, and visits.</a:t>
            </a:r>
          </a:p>
          <a:p xmlns:a="http://schemas.openxmlformats.org/drawingml/2006/main">
            <a:r>
              <a:t>Appointment, patient, and doctor maintenance are draft enabled. Department and visit data support scheduling and follow-up.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assessment category to something visible in the live system or report.</a:t>
            </a:r>
          </a:p>
          <a:p xmlns:a="http://schemas.openxmlformats.org/drawingml/2006/main">
            <a:r>
              <a:t>Be explicit that the evidence is academic and that production hardening remains a future activity.</a:t>
            </a:r>
          </a:p>
          <a:p xmlns:a="http://schemas.openxmlformats.org/drawingml/2006/main">
            <a:r>
              <a:t>This honesty strengthens the Clean Core and engineering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and explain which persona performs each action.</a:t>
            </a:r>
          </a:p>
          <a:p xmlns:a="http://schemas.openxmlformats.org/drawingml/2006/main">
            <a:r>
              <a:t>The core demonstration is the appointment booking step because it combines draft, value help, determination, and validation.</a:t>
            </a:r>
          </a:p>
          <a:p xmlns:a="http://schemas.openxmlformats.org/drawingml/2006/main">
            <a:r>
              <a:t>Visits complete the domain even though appointment scheduling is the main implemented UI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RAP as the ABAP Cloud programming model for transactional business objects and services.</a:t>
            </a:r>
          </a:p>
          <a:p xmlns:a="http://schemas.openxmlformats.org/drawingml/2006/main">
            <a:r>
              <a:t>Explain the difference between interface/root views and projection/consumption views.</a:t>
            </a:r>
          </a:p>
          <a:p xmlns:a="http://schemas.openxmlformats.org/drawingml/2006/main">
            <a:r>
              <a:t>Point out that Fiori Elements consumes metadata instead of requiring a hand-coded page for every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UUIDs are technical keys, while Patient ID, Doctor ID, and Department ID are business-facing identifiers.</a:t>
            </a:r>
          </a:p>
          <a:p xmlns:a="http://schemas.openxmlformats.org/drawingml/2006/main">
            <a:r>
              <a:t>The appointment is the coordination record that links the other master data.</a:t>
            </a:r>
          </a:p>
          <a:p xmlns:a="http://schemas.openxmlformats.org/drawingml/2006/main">
            <a:r>
              <a:t>Draft tables are separate persistence used only while users edit unfinished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is not a second business record. It is temporary transactional persistence for an unfinished change.</a:t>
            </a:r>
          </a:p>
          <a:p xmlns:a="http://schemas.openxmlformats.org/drawingml/2006/main">
            <a:r>
              <a:t>Prepare is the important point for draft validations; Activate moves a valid draft to the active table.</a:t>
            </a:r>
          </a:p>
          <a:p xmlns:a="http://schemas.openxmlformats.org/drawingml/2006/main">
            <a:r>
              <a:t>Show Create, Discard Draft, Edit, and Save or Activate during the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validation as a business rule checked before data is saved or activated.</a:t>
            </a:r>
          </a:p>
          <a:p xmlns:a="http://schemas.openxmlformats.org/drawingml/2006/main">
            <a:r>
              <a:t>The conflict rule checks doctor, date, and time and excludes the current appointment UUID.</a:t>
            </a:r>
          </a:p>
          <a:p xmlns:a="http://schemas.openxmlformats.org/drawingml/2006/main">
            <a:r>
              <a:t>The enhanced message identifies the patient already occupying the slot so the coordinator can resolve the conflict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distinction between storage and display: the database keeps UUID relationships, while users work with recognizable IDs and names.</a:t>
            </a:r>
          </a:p>
          <a:p xmlns:a="http://schemas.openxmlformats.org/drawingml/2006/main">
            <a:r>
              <a:t>Open a Patient or Doctor value-help dialog during the demo.</a:t>
            </a:r>
          </a:p>
          <a:p xmlns:a="http://schemas.openxmlformats.org/drawingml/2006/main">
            <a:r>
              <a:t>Priority and Status use fixed values so users choose supported codes rather than free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is evidence from the implemented Fiori Elements preview.</a:t>
            </a:r>
          </a:p>
          <a:p xmlns:a="http://schemas.openxmlformats.org/drawingml/2006/main">
            <a:r>
              <a:t>Explain that the list report is generated from CDS metadata and RAP behavior, not hard-coded UI controls.</a:t>
            </a:r>
          </a:p>
          <a:p xmlns:a="http://schemas.openxmlformats.org/drawingml/2006/main">
            <a:r>
              <a:t>In the current system, later refinements display patient, doctor, and department names and additional columns.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one appointment from the list during the live demonstration.</a:t>
            </a:r>
          </a:p>
          <a:p xmlns:a="http://schemas.openxmlformats.org/drawingml/2006/main">
            <a:r>
              <a:t>The object page provides focused detail and draft editing controls.</a:t>
            </a:r>
          </a:p>
          <a:p xmlns:a="http://schemas.openxmlformats.org/drawingml/2006/main">
            <a:r>
              <a:t>Point out the later enhancement: business IDs and names are shown while technical UUID fields are hidden from the normal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master data is maintained separately: patient and doctor records have their own lifecycle and validation rules.</a:t>
            </a:r>
          </a:p>
          <a:p xmlns:a="http://schemas.openxmlformats.org/drawingml/2006/main">
            <a:r>
              <a:t>The appointment value helps then reuse these trusted master records.</a:t>
            </a:r>
          </a:p>
          <a:p xmlns:a="http://schemas.openxmlformats.org/drawingml/2006/main">
            <a:r>
              <a:t>Department maintenance was intentionally left as a future enhancement; existing department data is available for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 Core means custom innovation stays within released extension points and does not change SAP standard code.</a:t>
            </a:r>
          </a:p>
          <a:p xmlns:a="http://schemas.openxmlformats.org/drawingml/2006/main">
            <a:r>
              <a:t>The preview authorization error was configuration-related, not a data-model failure.</a:t>
            </a:r>
          </a:p>
          <a:p xmlns:a="http://schemas.openxmlformats.org/drawingml/2006/main">
            <a:r>
              <a:t>Be clear that academic authorization stubs must be replaced by real roles and checks for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that the main functional paths were manually verified in the Fiori preview.</a:t>
            </a:r>
          </a:p>
          <a:p xmlns:a="http://schemas.openxmlformats.org/drawingml/2006/main">
            <a:r>
              <a:t>Do not claim production readiness. The roadmap identifies the specific gaps.</a:t>
            </a:r>
          </a:p>
          <a:p xmlns:a="http://schemas.openxmlformats.org/drawingml/2006/main">
            <a:r>
              <a:t>The report contains the detailed test matrix, activation order, troubleshooting log, and object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 this sequence exactly to stay within six minutes including explanation.</a:t>
            </a:r>
          </a:p>
          <a:p xmlns:a="http://schemas.openxmlformats.org/drawingml/2006/main">
            <a:r>
              <a:t>Likely defense questions: What is RAP? Why draft? Why UUID plus business ID? Where are validations implemented? How does Clean Core apply?</a:t>
            </a:r>
          </a:p>
          <a:p xmlns:a="http://schemas.openxmlformats.org/drawingml/2006/main">
            <a:r>
              <a:t>Close by naming the measurable outcome: invalid appointments are blocked, master data is maintainable, and the UI is generated from a layered ABAP Cloud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614d63af041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015817f7374cb2" /><Relationship Type="http://schemas.openxmlformats.org/officeDocument/2006/relationships/slideLayout" Target="/ppt/slideLayouts/slideLayout1.xml" Id="R8f35f9de65684e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35f9de65684e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f8839ba7346ed" /><Relationship Type="http://schemas.openxmlformats.org/officeDocument/2006/relationships/notesSlide" Target="/ppt/notesSlides/notesSlide1.xml" Id="R97204d82630a4f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0eb8cac044dab" /><Relationship Type="http://schemas.openxmlformats.org/officeDocument/2006/relationships/notesSlide" Target="/ppt/notesSlides/notesSlide2.xml" Id="Rccb13ad4e5e046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99102efc148f9" /><Relationship Type="http://schemas.openxmlformats.org/officeDocument/2006/relationships/notesSlide" Target="/ppt/notesSlides/notesSlide3.xml" Id="R3492f6d6556347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2e2d3b29649a7" /><Relationship Type="http://schemas.openxmlformats.org/officeDocument/2006/relationships/notesSlide" Target="/ppt/notesSlides/notesSlide4.xml" Id="R51ef4234ba1947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30d303b834620" /><Relationship Type="http://schemas.openxmlformats.org/officeDocument/2006/relationships/notesSlide" Target="/ppt/notesSlides/notesSlide5.xml" Id="R8f99a1dc6b5e45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7803af09340aa" /><Relationship Type="http://schemas.openxmlformats.org/officeDocument/2006/relationships/notesSlide" Target="/ppt/notesSlides/notesSlide6.xml" Id="R1fbf8b2c56bf4b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d727319f04401" /><Relationship Type="http://schemas.openxmlformats.org/officeDocument/2006/relationships/notesSlide" Target="/ppt/notesSlides/notesSlide7.xml" Id="R8644571fb4a24d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2d693a35e41aa" /><Relationship Type="http://schemas.openxmlformats.org/officeDocument/2006/relationships/notesSlide" Target="/ppt/notesSlides/notesSlide8.xml" Id="R13bdf852731049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30e260dd44f99" /><Relationship Type="http://schemas.openxmlformats.org/officeDocument/2006/relationships/notesSlide" Target="/ppt/notesSlides/notesSlide9.xml" Id="Rb56c9bc0656a4b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d5ca1e528461a" /><Relationship Type="http://schemas.openxmlformats.org/officeDocument/2006/relationships/image" Target="/ppt/media/image.png" Id="Rc0a05d40021048d1" /><Relationship Type="http://schemas.openxmlformats.org/officeDocument/2006/relationships/notesSlide" Target="/ppt/notesSlides/notesSlide10.xml" Id="Rf5c0b84cb4cc44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4d0948cc94fa6" /><Relationship Type="http://schemas.openxmlformats.org/officeDocument/2006/relationships/image" Target="/ppt/media/image2.png" Id="R1861ad63242f42d6" /><Relationship Type="http://schemas.openxmlformats.org/officeDocument/2006/relationships/notesSlide" Target="/ppt/notesSlides/notesSlide11.xml" Id="Re5e957456f454a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5221ee3ca4f87" /><Relationship Type="http://schemas.openxmlformats.org/officeDocument/2006/relationships/notesSlide" Target="/ppt/notesSlides/notesSlide12.xml" Id="Re29050c00e1840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9146de73c4c29" /><Relationship Type="http://schemas.openxmlformats.org/officeDocument/2006/relationships/notesSlide" Target="/ppt/notesSlides/notesSlide13.xml" Id="R636d51440e684d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786b2e675419d" /><Relationship Type="http://schemas.openxmlformats.org/officeDocument/2006/relationships/notesSlide" Target="/ppt/notesSlides/notesSlide14.xml" Id="Refe4c2392e6d46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c8443933c4abd" /><Relationship Type="http://schemas.openxmlformats.org/officeDocument/2006/relationships/notesSlide" Target="/ppt/notesSlides/notesSlide15.xml" Id="R1a235132bd1443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FD011-4E15-406B-A4E6-9CD4790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4D443-B420-4073-8FE4-691BF564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SAP ABAP CLOUD + RAP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44F69-909C-4323-B4B4-B4922E5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66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0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Hospital Appointment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0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&amp; Patient Visit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0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12B92-4973-4EBB-BFD9-EE2C123B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Draft-enabled SAP Fiori Elements application built with the ABAP RESTful Application Programming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F72CE-5E94-4EE0-ACF2-A31C837D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1476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43120-1FEA-4D37-A291-580E65BB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192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726CC-B59A-48E0-91D2-BAF40728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05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Patients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A44AF-1DED-49AE-B645-EFBD613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257300"/>
            <a:ext cx="1476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C8B53-6807-45AD-AC99-1D4A3E6D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192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41A5F-5B4B-4437-AF5C-622866CB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05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Doctors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52841-DCC7-4E66-9EBB-22192F3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81300"/>
            <a:ext cx="1476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E05A8-E141-419E-BBDA-F9D76E7D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432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03924-2EDF-4486-8013-7820CFB8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29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Appointments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BD826-76F9-423B-9D19-59E32BF8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1476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DF99C-44FE-4726-9672-41E5EAC8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672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C1E3C-5E1C-497C-A023-102322F3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Departments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1473A-4B52-479B-8041-CF2449F8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05300"/>
            <a:ext cx="1476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90BD9-6B43-4098-83AB-3620D9C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4672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E9038-0D2D-400F-92E9-FB43B618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53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Visits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00C77-DD7C-41B6-8FD7-60617C9F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860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5D1AF-DD22-47B6-8C58-1A4EC2DD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D6D71-E266-4495-B1EA-93EFF591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EA469-ED95-4D65-BE3E-BB4009D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10C1F-AB39-4C5C-9529-2E1BAD85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Sharath Chandra Chandrashekhar  |  Piyush Prabhakar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7FB9FA-DB63-40B7-9D69-4D84F084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 |  Applied Computer Science  |  SAP ABAP</a:t>
            </a:r>
          </a:p>
        </p:txBody>
      </p:sp>
    </p:spTree>
    <p:extLst>
      <p:ext uri="{BB962C8B-B14F-4D97-AF65-F5344CB8AC3E}">
        <p14:creationId xmlns:p14="http://schemas.microsoft.com/office/powerpoint/2010/main" val="1562856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2E97B6-9324-4F45-BA68-CF03C0D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8466A-7022-45AC-91B9-D5204FEC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Project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A9E75-9E74-4A3E-9A29-6280EA6B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0BC62-94C6-4EF8-8AE5-EF10C2D7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F47E2-A8DD-444E-9874-53AC0858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A0EC4-72B2-4A7A-9750-A5108810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26317-0831-44DF-9F45-DD159C4A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BUSINESS DOMAINS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45F66-2694-40FB-80D6-6BAF67AB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81125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DC1CE-B74E-4DC0-A930-6DA9B331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9B88D-6E6E-49AE-96C7-8B01B138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288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DRAFT-ENABLED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703F4-4DF0-4752-88B9-98B8F2AD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F1997-9B6E-42BD-AFE5-C9D587C7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1447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12610-F0E3-4BF6-AA18-7073D89F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88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VALUE HELPS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B4206-BEFB-415D-8BB0-90EE245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81125"/>
            <a:ext cx="3219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7C59D-66AD-494B-A7C6-28B32FC7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1447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ABAP Cloud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2B238-2E5E-44FE-B4DE-021C3896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288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CLEAN-CORE IMPLEMENTATION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71967-A2F9-47FF-AAB8-7C0C7B30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71775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EB898-FDB8-4915-9073-775839D2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7177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6E696-296E-477C-BC5A-98D1DC8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Business 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918BB-4A34-46C1-8275-B9D58C41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47434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Hospital coordinators need one reliable workflow to maintain patients and doctors, schedule appointments, prevent invalid bookings, and capture visit outcomes. Manual UUID entry and conflicting bookings create avoidable errors.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EC13E-29F7-482A-8FB5-6A33EF5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71775"/>
            <a:ext cx="5791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4C9E8-BAE3-4D41-AB3F-D43B5E39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7177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C8E2F-CDD0-4A1D-892C-884A6B00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Delivered solution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FB90F-6AFB-4E51-9DB2-BE677AF3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53911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 managed RAP solution with CDS entities, draft handling, behavior logic, validation, determinations, OData V4 UI services, Fiori Elements previews, readable IDs and names, and reusable value helps.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81254-F0E6-4FF3-88AE-D4BA34D3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9940A-8C64-46DE-AD91-667D5D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</p:spTree>
    <p:extLst>
      <p:ext uri="{BB962C8B-B14F-4D97-AF65-F5344CB8AC3E}">
        <p14:creationId xmlns:p14="http://schemas.microsoft.com/office/powerpoint/2010/main" val="950484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CCB6ED-2C12-4D7A-91A1-09318178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20FA1-746D-4A99-9814-97F19CF9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Requirements mapped 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FA269-D2BC-4AEF-AE9F-46A8BD48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577AF-2C75-480B-A915-1F760B2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DF45A-3638-4CA3-A2F1-29B6C9F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A28B5-188F-4289-8400-30917E74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2105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Assessment 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92EDC-7FC8-459B-B108-0BEB8FE9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38112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4D686-0BD6-4DC8-BDA7-9C316AB0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476375"/>
            <a:ext cx="2200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5440E-C8EF-4894-9F85-80CEED94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38112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D1776-2006-4320-9F9D-B8D5B264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76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 to demonstrate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E1B75-F35E-487F-830B-D7040854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8112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7FC0C-55A2-4392-8C3C-1718EC95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7637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2FAC0-9132-45C0-9F43-5F48E270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76425"/>
            <a:ext cx="1116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D1B40-EBE9-40A0-A05A-B7135A0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105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Technical solution | 35%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1CCBE-3F98-4E03-BF1B-A970AE58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764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9E200-B9F3-4496-82C9-C1C2A091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971675"/>
            <a:ext cx="2200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RAP + CDS + OData V4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07A27-18E9-433C-85C6-3D7BB913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764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566CC-B11A-4075-B96D-ACC9C1A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71675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Create, edit, activate draft; trigger validation; use value help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0913A-E986-4E62-9FD6-1642F34E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64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4EDE9-0B19-4567-B55D-4573EC76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716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Functional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69FA8-B213-4BE5-AD5A-6885B99C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1116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50C7F-ACAE-4951-AA4B-3B1FC9B4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2105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Clean Core | 25%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15210-92C5-49D0-9732-0AF0B5D3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765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3B598-9848-4D46-8753-65C59364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71775"/>
            <a:ext cx="2200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ABAP Cloud language and Z objects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3CA370-0E9B-4A91-99E2-91E79260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765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0F16B-1F05-4552-A2A9-EA822E3A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71775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Released framework classes; no modification of SAP standard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9188B-B8D8-4865-9342-BF15BCEC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765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A721D1-096D-4F79-BE03-22A71E6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Upgrade-friendly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82D4D9-3F63-4877-A093-4195D4D6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116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CACB8-8414-4C61-89A2-1ED3FBAD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2105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Documentation | 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9184D-FF4F-405C-A4B0-B48A9150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76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3A9F72-CAA6-4B0F-8B83-6C69A325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571875"/>
            <a:ext cx="2200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50-page technical dossier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7F495C-CA85-4437-9031-C6DCDB7E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76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1344F-A063-4434-BF37-EA5EEA75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71875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Architecture, object inventory, test matrix, runbook, KT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8878E7-FD50-4CDC-811D-D6EA0BE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76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43B61C-60F8-4E05-BE8D-E991E24A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718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Submission-ready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329D8-4368-4E93-84C2-5DEA721A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1116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672C70-4AB8-4C4E-95B8-477F8AF2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1975"/>
            <a:ext cx="2105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Defense | 20%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523178-D05A-40AD-87CB-1EF3F28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276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AF754A-6EC4-4989-9B1F-B46380B2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371975"/>
            <a:ext cx="2200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15-slide walkthrough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56FAD1-C25D-4219-84AE-E0C2111E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76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BC147E-087B-40D8-8DD0-3323FF75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71975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Explain RAP layers, design choices, limitations, and next steps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D4BC2D-4545-4123-84DE-5328E2F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76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D8E1F5-3BFA-4AFE-A479-103760FB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719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Clear ownership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0F7FFF-2A44-4896-98A6-A51A500A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8275"/>
            <a:ext cx="11163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17C61C-719F-477A-9B6D-479BBF5E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82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48543D-E68C-4678-B9FD-11D9E728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972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Submission position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1FAFCE-93A2-4427-BD14-A4CCD9F9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The project is appropriate for academic demonstration. Production rollout would still require formal authorization roles, automated tests, deployment governance, and operational monitoring.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FEE310-4184-4E55-AD83-715CAF4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BAD3CA-9A86-48C9-A350-D14E79B1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1A76AA-1B0E-4263-B26C-13F2AADF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53200"/>
            <a:ext cx="510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Assessment weights from the supplied exam framework</a:t>
            </a:r>
          </a:p>
        </p:txBody>
      </p:sp>
    </p:spTree>
    <p:extLst>
      <p:ext uri="{BB962C8B-B14F-4D97-AF65-F5344CB8AC3E}">
        <p14:creationId xmlns:p14="http://schemas.microsoft.com/office/powerpoint/2010/main" val="1858065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D2E996-69ED-458C-9924-F3CDA3AC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BUSINESS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F2D96-2BC6-4E10-B521-DB503E0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End-to-end hospital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7C78A-3CFC-462A-83D3-ECB79167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0F778-6561-476E-9BA5-5C83F98D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EAEC8-453D-406D-A5C8-8088C8F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3C849-09D4-4A99-B052-38622FE7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23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B0A8E-6E97-4589-AE8C-42E6C2A3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11503-E8C6-4076-92DD-D97BED87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57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Register patient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C2493-151F-4BA6-BFC4-A5C34A35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Maintain identity and contact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57020-FF30-4132-86A9-C4D9F3F1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717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29ADB-8D82-4747-87E1-D9C387BA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3355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050A2-8BBC-4816-9EA6-B62A8B3D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33550"/>
            <a:ext cx="323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16939-3A6E-434B-9C0C-61BDE4C7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05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27566-6DFE-4965-9338-E64A91E4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57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Onboard doctor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1914E-436B-4D88-B07A-2592277D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Maintain specialization and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D041F-6982-4A94-87E4-83A2027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DC7E8-C9B6-4384-9E7F-03E51D7E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3355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7F61D-DE73-4D97-BE59-2D5B4957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33550"/>
            <a:ext cx="323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5F187-C58D-43DB-8609-30CA6D14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05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DF8DE-B643-4AB3-8F16-0EBB08D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57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 appointment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3668E-EE00-4FC6-BAA6-428EA589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33600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Select patient, doctor, date and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6E681-BE19-4995-9C7A-1F0179A7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E5AFD-0C8B-42A5-9393-0B439CDC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41F84-986E-498E-BECB-3B1FE582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323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9B18F-F9D8-4416-B286-61DB38D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05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CD99E-5409-4494-AB77-3324A5C5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57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Validate booking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3EE71-DD61-4EF6-ADB7-7044C99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Reject past or overlapping schedules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9ECF8-78E9-4AA3-9242-C14FB5B5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9A3AD-82B1-4821-AE15-BDB41E43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3355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EE5F7E-A59A-4D21-80BD-49E12D72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33550"/>
            <a:ext cx="323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6F8477-07BA-404D-AC08-679F9717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05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4F7EB-9EC5-47BD-924E-6EEC7954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57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Record visit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D2A82-D30E-4667-AB66-F2D9940F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33600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Capture diagnosis and follow-up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655CB8-48A2-44B8-8530-269455B9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System outcomes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7B237C-1BF3-448B-9C95-04CC2135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3852A-9526-4AFE-B6B2-5EAFD38C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Draft editing protects unfinished work and allows Save or Discard.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3EF860-27CC-46DD-AFCB-E53C2CAE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D04895-A5BC-4B8C-9124-4AA659D6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Value help replaces manual UUID entry with selectable business records.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9D8788-1C4A-4078-981C-BC6A6BBF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30FEB2-15FD-4540-BA29-30A88790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Validation blocks historical appointments and doctor time-slot conflicts.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233EAC-BBB9-4A5B-9D55-B28A0E9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379C80-0FCB-4D53-9E1F-43A9FFE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Readable IDs and names support fast scanning in list and object pages.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36DC66-DEF1-4A97-B275-74142ACA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D4DEFC-E602-4524-9DE5-2B62F6AC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</p:spTree>
    <p:extLst>
      <p:ext uri="{BB962C8B-B14F-4D97-AF65-F5344CB8AC3E}">
        <p14:creationId xmlns:p14="http://schemas.microsoft.com/office/powerpoint/2010/main" val="1553962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B62BEB-55BB-417C-8819-FEC4E81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TECHNICAL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797DE-7259-4467-B3F7-2AFFE25F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RAP architecture and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93D4-23EB-4C41-BC16-F5487E3D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5F542-FE86-4228-9A30-569B5CF1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6A16F-6DE8-423F-95B5-E91A8ADD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20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9CF82-8B4F-4FE9-AC74-CDA35BEF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SAP Fiori Elements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282DC-2616-4502-A204-77E416C4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Metadata-driven list and object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E902A-52C8-4480-99A3-AF3E5D2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720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79B5B-4073-4525-8042-298E6539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OData V4 UI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7C6DC-B28B-4816-ADC2-2553564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193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Service definition + published service binding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64758-38AF-48FE-8068-C9729215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720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42431-9FCF-4CE7-847A-89942B3C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Projection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5F7AD-BB98-4DEF-8D8F-747237F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813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ZC_SHHMS_* transactional query and UI annotations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57883-8868-4E84-BCA2-3E550C11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720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0CC7D-3025-4A2B-A54C-B44719A2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Behavior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1AA66-0223-4106-9C82-19B1AE4E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Managed BDEF, draft, validations, determinations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F39C4-91F3-43FC-B1D2-C02CC474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720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B4949-AEA9-4E5B-B7B1-EE580860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Interface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A60BE-482F-49BD-B1ED-C8A24DC5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053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ZR_SHHMS_* root view entities and value helps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7F6AB-AC2F-4C72-A029-07218414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720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A66FD-928E-48FA-AC67-7D8082D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Persistence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9F9E2-8AD3-445F-8DCB-EF44ADD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673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Active and draft database tables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30237-CB01-42D9-B182-43A45A38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52550"/>
            <a:ext cx="3619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DFBC6-A451-42E7-AA96-19ECF120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5255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703D2-651C-49DA-AF64-8798DA7C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Managed 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1E611-24E6-4F5B-B4A8-C116DCB5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95475"/>
            <a:ext cx="3219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RAP supplies standard transactional handling. Custom code focuses on rules such as scheduling conflicts, readable display data, and field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A8A9E-BCD5-4ACE-B5B5-8B5D960B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3619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85BE49-E44D-461C-B572-323907DF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0A0A0-1917-4145-93DC-380F23E9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this structure matters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D4639D-BE5A-437D-A723-A37CCB2B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3219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Each layer has one responsibility. UI metadata can evolve without rewriting persistence logic, while business behavior remains centralized and testable.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29460-B757-4A93-B6A1-AE49B0A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0B1C5F-271B-4AF6-92F9-AA0EF1A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BF07B-28E1-4E47-81CD-DCD911B8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53200"/>
            <a:ext cx="510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SAP Help: ABAP RESTful Application Programming Model</a:t>
            </a:r>
          </a:p>
        </p:txBody>
      </p:sp>
    </p:spTree>
    <p:extLst>
      <p:ext uri="{BB962C8B-B14F-4D97-AF65-F5344CB8AC3E}">
        <p14:creationId xmlns:p14="http://schemas.microsoft.com/office/powerpoint/2010/main" val="1869021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A8B559-6BBD-46F3-8557-AB6B65F1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91654-33B3-4971-8758-EBA08354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Domain model and persistence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4A803-5409-4D87-AB1E-1D2079B3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4E61C-739A-4792-B331-97DC48E4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593DC-D2F8-40BA-B947-6BDBB44A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2857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22C51-0E14-466B-AC83-D358A2CA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APPOINTMENT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C2756-8E90-45A4-96A8-2F72DC15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 + Doctor + Department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Date + Time + Status + Priority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F992D-5760-4AD8-B598-D9E0106B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838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A6633-1454-4160-8192-04AC19FB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6CF4E-C018-4F64-A8C3-9CD9FB0E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Identity, contact, allergy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CA88A-94DA-45B2-A1DC-A86454FD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2838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7F7CC-7B2B-4969-8313-D5DF52CF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EBB38-DBD2-4DDE-81E7-5A3BF3C4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Specialization, phone, active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46A99-220D-48DF-B129-2521D6ED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09700"/>
            <a:ext cx="2838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CD6CA-8AC8-4AE9-8F34-522086AA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DEPARTMENT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713F8-E497-49EE-BD49-9E5682E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97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Name, floor, contact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37705-3512-4535-8AC7-DC07F3BF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95800"/>
            <a:ext cx="2838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46730-EFE3-4D80-8D7B-2FBCD5F3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863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VISIT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F5ACD-98EB-4BCC-BD48-111E32BF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958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Diagnosis, treatment, follow-up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F2ADA-1664-451E-84F7-86E694F3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9072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A94B9-66E5-45B4-A760-FEA6FC1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7682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B4C30-BC26-4678-82BB-258BC7A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9072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06D56-449E-45E8-873A-08EB4176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682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697E6-1778-488E-A2F1-6FA4DF66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002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AD85F-F48C-4C7D-B472-96DD8E3F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002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5F3C1-D8C8-48CF-98E3-73850753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00500"/>
            <a:ext cx="19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75BC6-F4F0-4D0A-89B0-A9349F60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00500"/>
            <a:ext cx="19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AFCD9-5205-4FE7-B97A-A2B2B508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52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Active tables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07354-0635-4B63-9BAA-84949649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Draft tables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71C53-33C0-48CC-9361-2ADE22EC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768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9649C-7C6E-4CDE-8934-1A312579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768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12D3C-7A2C-47A0-8C29-2121A049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292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rPr>
              <a:t>ZSH_HMS_*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624C83-BBB5-460E-AA8B-D8D9730C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92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9B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9B6500"/>
                </a:solidFill>
                <a:latin typeface="Helvetica Neue"/>
                <a:ea typeface="Helvetica Neue"/>
                <a:cs typeface="Helvetica Neue"/>
              </a:rPr>
              <a:t>ZSHHMS_*_D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A1CEE4-CB5A-4879-9C78-98B7A433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F99D69-7995-49E7-92FC-8C853C5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</p:spTree>
    <p:extLst>
      <p:ext uri="{BB962C8B-B14F-4D97-AF65-F5344CB8AC3E}">
        <p14:creationId xmlns:p14="http://schemas.microsoft.com/office/powerpoint/2010/main" val="9482295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BEA9AA-32B1-4922-906D-FC7CD920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RAP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403FF-5AD1-441B-BF3E-ED213DA5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Draft-enabled transactional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2B78B-78DA-4830-96AD-FE24471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C8121-767F-42BF-9AD8-82B11956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C22DD-4E97-447B-9A9E-6B814503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3333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F04FB-1704-4056-9844-5D44864C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780EB-EEA6-4DD2-B1AD-3E0AAD00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Appointment draft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3EA88-B8C4-42D0-8B03-F8C24E60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Create or edit a booking without immediately changing the active record. Prepare runs validations before activation.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3E871-6741-4107-A4BB-0A7C1A72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381125"/>
            <a:ext cx="3333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C7E05-FC19-46A3-9156-82965189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381125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58C39-D1A7-4C6B-9438-1CB1639B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525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Patient draft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41441-59A1-44C7-ACE2-EBC36FA2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24050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Maintain a patient with duplicate-ID, name, date-of-birth, phone, and email checks before activation.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388CC-9366-456A-B5FC-C0F339EE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4057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E3617-1775-42D4-827F-72E97B92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57CF2-77AD-4A7C-ABE1-B12D4720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5257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Doctor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570EC-B7BD-4B87-A855-D319181C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3657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Maintain doctor details with unique Doctor ID, title-case name formatting, phone and email validation, and an active flag.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C5288-2AD8-4B1B-8780-60A06E91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Draft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21686-B6CC-417F-A415-246B834B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AA1C4-B736-4114-8E50-A75D07DC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23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13DD2-DD83-40F0-B29F-57015E1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936BD-6AFF-4384-965D-1A02A39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Create / Edit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8EF24-4D68-4D6A-82FC-EFC9B9DA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Open draft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CE291-750D-4600-B0A3-213D67A2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64A2B-BE2D-4447-A258-8B6044BD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720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87533-892B-40E5-B291-EFD57CAC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72000"/>
            <a:ext cx="323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643EF-F0B0-4E61-BAB6-37033E77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DD332-CF69-4DA1-9557-ADD9D9C4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958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A2143-CD90-4753-A33B-0D831870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Autosave draft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0C15F8-9BF3-43D1-A4E2-025E1F8D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482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5436C-A405-47C7-ADD8-ADFE9DAF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62A5B-D22D-46A0-8A73-AC4201B2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323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83BCF1-5FAA-46D7-B567-1E9EE00A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8A498F-175B-47D8-A180-A28E5709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958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364A35-03A8-4F2A-AC4E-7DD65FE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720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Run rules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8AF372-AA05-4434-90FE-E9E9FAF2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482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4C0E24-270D-4650-9088-058EEE6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5720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A56F4E-B92F-4F2F-8C5B-EB547DEC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572000"/>
            <a:ext cx="323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9E623D-3408-4041-A1B9-E4F2BB21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A073DD-F159-4747-917E-A8BD6ACF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6958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Activate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AC55D-C538-4DE2-8E0D-AC23B55B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9720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Persist active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2C5C25-8FB7-42F1-B588-A12D1A91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482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9ED4D4-936A-4399-9EAA-847957BB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36C6D8-E3F9-464B-9FD4-F6B5237D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0"/>
            <a:ext cx="323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AF3DAF-FF25-483F-9D3F-AD6AEA15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434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5DF1EC-D815-480D-8EBE-BEEBD13A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958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Discard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A2B434-D86B-45E7-AE91-8937D0BE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720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Remove draft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CE749F-6495-41A6-9296-2D4ACE6D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Benefit: incomplete work is isolated, recoverable, and validated before it becomes active business data.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C1AF3F-4BB0-4C09-B9B7-89E99111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847EE0-E045-4459-9B83-A55EDE81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5F916A-B78A-493E-B07E-C2A6568F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53200"/>
            <a:ext cx="510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SAP Help: Draft Business Object</a:t>
            </a:r>
          </a:p>
        </p:txBody>
      </p:sp>
    </p:spTree>
    <p:extLst>
      <p:ext uri="{BB962C8B-B14F-4D97-AF65-F5344CB8AC3E}">
        <p14:creationId xmlns:p14="http://schemas.microsoft.com/office/powerpoint/2010/main" val="2141114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0D71C-2ACB-4372-BFA5-6BE2382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BUSINESS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0BC2A-B52F-4756-B533-C61382C2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Validation protects scheduling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CB1D7-32EB-472F-89A1-BE568D4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07C6A-455D-41D8-A5C5-D011EE6A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565F0-DE8E-4402-9893-CC79EC03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54286-7718-4B6C-AADA-E3D7052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A63BB-0CAF-4EE5-B334-EC4F2E39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43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Past date or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07136-9004-4267-B19E-F18AE20E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6690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Reject an appointment earlier than the current date and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28523-EF3E-4CD1-809D-4EA3897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7647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rPr>
              <a:t>Select a future appointment date and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52910-C857-4F3F-BB0A-433C8AB8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9875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06399-E7B5-4A72-A231-C584DA01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C936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C9362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8C1AC-FBA3-4804-A543-921C3C6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Doctor time conflict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3ACF6-566C-4D16-82FD-25E5FF1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Reject another booking for the same doctor, date, and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6DCBE-6E79-4BE3-B4CD-2E6D7B19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0522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36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9362B"/>
                </a:solidFill>
                <a:latin typeface="Helvetica Neue"/>
                <a:ea typeface="Helvetica Neue"/>
                <a:cs typeface="Helvetica Neue"/>
              </a:rPr>
              <a:t>Doctor is already booked with &lt;patient&gt;.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13D76-7D5F-4D8F-AC82-94A75ACC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41939-0A17-4CE9-888B-F735F715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B829B-60B0-42FA-8AAC-3FBA936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Reference integrity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61B26-683F-41F4-9E6A-D0B50B09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Require patient, doctor, department, reason, date, and time.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187B6-E11B-4AE8-83EF-06E6E6AB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rPr>
              <a:t>Missing mandatory information is highlighted.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52076-BCA7-4AF3-B7D4-05749D98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81125"/>
            <a:ext cx="39814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8E684-E4EF-43D3-A554-335029D6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81125"/>
            <a:ext cx="57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7A0E1-B596-450B-AEC6-CC4E04C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52575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Technical pattern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8242C-601F-43E5-919C-1C6AF87D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3581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READ ENTITIES in local mode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-&gt; evaluate current draft values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-&gt; append failed key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-&gt; return field-level reported message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EF431-EBB6-426A-82C5-4E2C95E6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90925"/>
            <a:ext cx="39814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C100B-D5A4-4335-9017-9AED072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90925"/>
            <a:ext cx="57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7D08C-C2E2-4DBE-A181-C624DEFC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User experience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F2F91-7730-45ED-A841-63F760DC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581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The user stays on the draft, sees the exact invalid field, understands why activation failed, and can correct the record without losing work.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635A5-CC06-4B0E-8DB8-E66C4870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5A886-6647-4B96-8D8E-514816F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</p:spTree>
    <p:extLst>
      <p:ext uri="{BB962C8B-B14F-4D97-AF65-F5344CB8AC3E}">
        <p14:creationId xmlns:p14="http://schemas.microsoft.com/office/powerpoint/2010/main" val="945325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FA6CDC-0AEB-48F6-9F68-3182CE9F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FF92F-92AC-4356-8F1C-814793BD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Value helps replace technical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62479-5FC4-4945-9EBF-29D4C39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48711-E255-4750-8C15-6EC57707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74B52-8503-4B0E-9538-BD4685D5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936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362B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AF1BD-8653-44C9-98C2-45E4A3FC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4914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32DFD-232E-4717-A987-FF14600E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PatientUUID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771F9-F655-4FB5-A343-52FF805A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50890-9E9F-4DE3-AD91-FB720B43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9e9e2dbd-49f7-1fe1-9fc3-6dd98009d374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0B124-9AC1-4B68-98CD-D6F2497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936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362B"/>
                </a:solidFill>
                <a:latin typeface="Helvetica Neue"/>
                <a:ea typeface="Helvetica Neue"/>
                <a:cs typeface="Helvetica Neue"/>
              </a:rPr>
              <a:t>High error risk: users must recognize and copy a 36-character technical key.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3F098-6C1B-4FB1-B0A0-6382E2C4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rPr>
              <a:t>After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9E937-2B8A-40CF-8BB9-4AC69443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867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702A6-041F-47AA-B190-C1CDBE8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Patient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9A840-AE76-4D11-815D-45AD617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531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9A45A-2962-41E1-9A30-B70C8F45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3365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PAT-1003  |  Rahul Verma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BC141-24B6-4C0A-88F9-8EC91D9C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514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437D3-99B6-4916-8532-FE6A1737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457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3B555-582F-44B3-BA08-6557583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6230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rPr>
              <a:t>The selected business record stores its UUID while the UI shows ID and name.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1C455-587A-4445-8AB3-111E8B53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Implemented value helps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B2DFB-4EA5-4007-90DD-62B2CC7B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4707D-0C7A-4F1C-977F-E4D33E2B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A18C4-1A96-474D-B633-378BD66D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62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4BC49-DE21-438B-B507-290095DB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33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8A817-B6F7-4295-9D4E-2BC27131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6BE88-E592-4799-BE80-B9941AFF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33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Department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8B7206-073B-4612-A1E0-5599D894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6A258-9DD7-4499-ABD8-9BBF035B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33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Priority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8BEC3A-AC20-444D-9865-71F9E2F2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5B7E9-8146-42AA-8575-8E3C9C8F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33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9972D-91EB-4765-8670-5AA37E41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Requirement satisfied: at least two filterable value helps are available, with additional value helps for operational fields.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7F57E7-BA7B-4787-B61A-B7CF9EDE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43CA0B-9458-4184-BC0C-B712DE9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</p:spTree>
    <p:extLst>
      <p:ext uri="{BB962C8B-B14F-4D97-AF65-F5344CB8AC3E}">
        <p14:creationId xmlns:p14="http://schemas.microsoft.com/office/powerpoint/2010/main" val="1925732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2F786-ECD7-4FD5-B428-31B1A32B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APPLICATION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3DA98-3648-430D-A747-E1413031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Fiori Elements list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0522C-F187-4DFF-A67C-5EE7E2F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13CB3-4121-4C61-A8F8-1097745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14C7E-97AD-48D7-A9C4-C89242CB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43025"/>
            <a:ext cx="83058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05d40021048d1"/>
          <a:stretch xmlns:a="http://schemas.openxmlformats.org/drawingml/2006/main"/>
        </p:blipFill>
        <p:spPr>
          <a:xfrm xmlns:a="http://schemas.openxmlformats.org/drawingml/2006/main">
            <a:off x="1101090" y="1457325"/>
            <a:ext cx="7132320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68A7-BE56-4A0A-8F98-F75E72CF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43025"/>
            <a:ext cx="2590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FF210-65B2-49E2-913D-68C1A74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430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2ED0A-48D2-41E0-957C-029E59BB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144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and filter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C6C80-D494-416E-AA45-21EBA005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859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Date, status, ID, and additional fields can narrow the worklist.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CD93B-57E7-4DBE-B89C-A5B7934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05125"/>
            <a:ext cx="2590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ACEE8-D0C4-4289-A0D7-91759A7A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05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62585-9093-4B14-AB61-84C08E61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765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Readable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9FB90-1EE1-496A-B9BC-FF4D315E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480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Appointment ID, date, time, status, and reason support rapid scanning.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E68B3-E44F-4C9C-BB34-2A4EE276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67225"/>
            <a:ext cx="2590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BE70E-39ED-46A9-ACF4-CF91506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67225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127FD-86C5-4E8E-AA2D-35A535A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386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Draft 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555AB-26B5-45D4-AD11-79829507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Create, Edit, Delete, Save, and Discard are generated from behavior metadata.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E85B6-6E3E-4821-82A4-108785CA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B5132-F9DE-437A-92C5-AB75A1FF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554DA-2D22-4B75-9772-93217E95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53200"/>
            <a:ext cx="510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Verified project screenshot</a:t>
            </a:r>
          </a:p>
        </p:txBody>
      </p:sp>
    </p:spTree>
    <p:extLst>
      <p:ext uri="{BB962C8B-B14F-4D97-AF65-F5344CB8AC3E}">
        <p14:creationId xmlns:p14="http://schemas.microsoft.com/office/powerpoint/2010/main" val="19265639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897CA-06C1-4FA6-88F4-66D23AF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APPLICATION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25CA9-9401-43AD-BA7D-840AE7FC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Appointment object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FEE4A-7A6A-434F-8569-D7A466D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27FB1-823A-457A-AF14-25F83CC3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7DF1D-2136-4665-8FCF-5276844F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43025"/>
            <a:ext cx="111633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1ad63242f42d6"/>
          <a:stretch xmlns:a="http://schemas.openxmlformats.org/drawingml/2006/main"/>
        </p:blipFill>
        <p:spPr>
          <a:xfrm xmlns:a="http://schemas.openxmlformats.org/drawingml/2006/main">
            <a:off x="3200400" y="1495425"/>
            <a:ext cx="579120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BAC3E-3CD1-4889-947E-94C2143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14975"/>
            <a:ext cx="3429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9DBFD-135E-47DF-B18C-C3FC12CE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14975"/>
            <a:ext cx="57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A4C2C-FFC9-4EF3-B8DA-B31FAA11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Business header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02888-132C-474D-9359-05A6EE3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302895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15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Appointment ID + 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2A997-46B0-451D-8F8E-5EBB55AA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14975"/>
            <a:ext cx="3429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3397E-05DE-4C13-BE96-2B87C211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14975"/>
            <a:ext cx="57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631DA-1FA0-42BB-A80F-98DF2D03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864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Field grouping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E939B-EC1C-418E-8A94-8E7ED547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057900"/>
            <a:ext cx="302895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15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Single Appointment Details facet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09C77-C439-4338-92D4-3F27DFB7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14975"/>
            <a:ext cx="38481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90867-4A8A-47B6-A660-F5CB2EB2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14975"/>
            <a:ext cx="571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46DA8-613E-46CE-B839-D9E228F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86425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Transactional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CD9E5-681E-41E3-A2BA-EC1B98C5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057900"/>
            <a:ext cx="344805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15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Edit, Save/Activate, Delete, Discard 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14778-C880-440A-A392-E346EAA4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23785-8DF9-43D3-9270-80F73661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B6FA6-E917-41E0-B20D-A581E2E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53200"/>
            <a:ext cx="510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Verified project screenshot</a:t>
            </a:r>
          </a:p>
        </p:txBody>
      </p:sp>
    </p:spTree>
    <p:extLst>
      <p:ext uri="{BB962C8B-B14F-4D97-AF65-F5344CB8AC3E}">
        <p14:creationId xmlns:p14="http://schemas.microsoft.com/office/powerpoint/2010/main" val="15900712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18826-B949-4D2A-9BCC-70F1E49C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MASTER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629B8-5B3D-4230-899B-61855861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Patient and doctor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3D29D-8819-4AAF-BDFD-8F3B5C2D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6D88A-6F77-4E7C-B46D-2F2CC258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5BEDF-047F-4A5F-AB69-1FB7AD25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314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0D170-C9EE-4A3D-A189-2CC02D8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95F3E-EE18-4E34-B197-9241D32A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Patient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CF459-04FB-4786-93F1-9F22FB5F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914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Draft create and 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Unique Patient ID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Title-case first and last name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Date of birth cannot be future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10-digit phone check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Basic email-format check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Critical-allergy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5E381-3083-4E7E-A4DD-19B96AA7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81125"/>
            <a:ext cx="5619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329BA-4440-494E-84E4-D2DFD5EE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8112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65D27-51EC-46C4-B3D0-3D257F21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52575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Doctor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F93C9-9AE2-4A13-B829-54416EB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2197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Draft create and 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Unique Doctor ID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Title-case doctor name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Specialization maintenance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10-digit phone check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Basic email-format check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Active / inactive flag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3972C-5E43-46D0-8146-02F7D3B9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Shared implementation principles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A5012-8E45-4562-9F69-94A944A1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8A317-5A91-45EB-A7BE-E78EBCB7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43525"/>
            <a:ext cx="10725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Managed RAP behavior keeps CRUD and draft semantics consistent.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E61BF-6AB4-4D89-864F-BAB165B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58634-D95F-4C95-99F8-A6B91A0D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725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Determinations normalize display data; validations reject invalid activation.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5BF9C-15F1-4FDB-8FF7-7ADEB9F5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B12D3-4983-4C7A-B95A-168B4C81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0275"/>
            <a:ext cx="10725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Separate UI service bindings keep preview authorization and ownership clear.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67261-9DA5-488D-80F1-E4F636DD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23500-6B3A-41CD-B96A-78FD519C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</p:spTree>
    <p:extLst>
      <p:ext uri="{BB962C8B-B14F-4D97-AF65-F5344CB8AC3E}">
        <p14:creationId xmlns:p14="http://schemas.microsoft.com/office/powerpoint/2010/main" val="14129638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8C102C-D9BF-45E4-A499-DE18AF20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ENGINEERING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8FDE5-EFC4-4E46-AC9A-FB5AEA4F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Service design, Clean Core,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B33AE-344B-44F1-82EF-E26352CB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5C75D-567F-4E3E-B651-77405C1E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070FC-9801-4305-B191-43B31866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34099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82E7F-BED9-45E1-80AF-AD44995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71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42488-EBFE-418D-AB4C-6241C713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Service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416A3-4146-43B9-BEAE-A8777ED0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099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ZUI_SHHMS_APPT_O4 exposes the appointment projection plus Priority and Status value helps. Patient and Doctor use their own OData V4 UI bindings for maintenance.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86E91-15BA-452E-B19E-2ED943C9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381125"/>
            <a:ext cx="34099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0E3C8-DF26-4EAC-A7F2-0E06C21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381125"/>
            <a:ext cx="571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12C4A-B4BA-4750-9946-EEAEA944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5257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Clean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BED8F-3126-493D-B346-C5D86CFF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0099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All custom artifacts use the Z namespace. The solution follows ABAP Cloud language restrictions, uses RAP framework APIs, and does not modify SAP standard objects.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BD05F-73B7-4240-8838-188166B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81125"/>
            <a:ext cx="39243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B7626-F005-445B-BF0E-53F060BD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81125"/>
            <a:ext cx="571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2CFB0-F063-449E-8720-21ECCBF9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525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Authorization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A66C3-FF2A-4446-9874-FDF71EA3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5242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Service-group start authorization is required for preview access. A previous 'return code 4' issue was resolved by using the correct published binding and authorization assignment.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7B97E-EF38-4A26-8E45-E3BAE6A8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Production hardening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CA526-ACF1-43D3-9673-95465AEB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F410D-4540-4E65-8760-DF6B6011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34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Define business roles and instance authorization checks.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22EEB-DDF0-4D91-9BD2-F05CB91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AEE6D-C6FA-45CA-887E-51E9C5AE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72175"/>
            <a:ext cx="10534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Automate regression tests and deployment transport checks.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83134-448A-41E5-A5FE-FAB38EE4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011AF-9CBB-47A8-BE1C-CA46F6D9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10300"/>
            <a:ext cx="10534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Add monitoring, audit retention, and privacy controls for health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FE13C-7EA4-42C5-B8E7-2137DC07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BF921-8660-46D5-9734-6AE1D774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7033B-7AC0-4E39-9A0D-453C0A3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53200"/>
            <a:ext cx="510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SAP Help: ABAP Cloud; Released APIs; OData V4 Service Binding</a:t>
            </a:r>
          </a:p>
        </p:txBody>
      </p:sp>
    </p:spTree>
    <p:extLst>
      <p:ext uri="{BB962C8B-B14F-4D97-AF65-F5344CB8AC3E}">
        <p14:creationId xmlns:p14="http://schemas.microsoft.com/office/powerpoint/2010/main" val="2040049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F482BE-FB1A-4872-88B5-3B56B8AA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4BD36-AF51-42A1-BC7A-423AB372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Verification results and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5B8D8-122B-41D3-AB19-F2863B8C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AE893-36AD-4C7B-805A-7A96C516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1274F-08CA-4B0B-8132-DC08ADC9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C6CB2-92DE-4CDA-9CFC-6894D7BB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3BA0E-5915-451D-96B3-DD1F2943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CORE TEST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CEC59-BDEE-4EED-8802-7CE7BBCA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81125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E01D3-8E6B-4FEB-BE8D-59B76A36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14475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50783-4CD3-4366-B3A2-ADCE18E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28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DRAFT BUSINESS OBJECTS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0A374-869F-4644-AF29-41AA6A6A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81125"/>
            <a:ext cx="2419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DDBCA-64AF-428D-AAA5-05FB2F27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14475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9B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9B6500"/>
                </a:solidFill>
                <a:latin typeface="Helvetica Neue"/>
                <a:ea typeface="Helvetica Neue"/>
                <a:cs typeface="Helvetica Neue"/>
              </a:rPr>
              <a:t>5+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5EA78-456D-4F3D-8F01-EB2D47D6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28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VALUE HELP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17DF7-CD2C-49F4-B6F1-970095A3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3390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C81B1-79AE-4C2B-B43B-138FA029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144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845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E03B9-6574-4928-B384-231EBFD8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288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SAP STANDARD MODIFICATIONS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3E282-0190-4FEF-9F85-15070988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3BF45-053E-4CDE-AE7E-4897D9BF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1AA3E-CC92-4618-8369-5C469173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84531-1FB1-4E7D-8D73-C82E6DCC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24318-3D2C-440F-9CAF-CF6AEC4B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81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ACD02-771E-4EBC-A877-C9F3AC54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765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Observed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79DCD-DA6B-4537-B919-D1FC9EF7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6DF89-3A07-4C05-9D13-2803FC58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00E4F-1B65-4376-BD08-779692E8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11163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E8EAB-FC69-47BF-9C8D-69240582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724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Create appointment draft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FD7A4-1C70-4FA6-8503-D4EE582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E534C-0FC2-4C4E-B608-DFC64DE2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Draft opens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ACEDE3-E643-4342-B0CC-A3146873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D361DF-38F4-4549-B311-85C506E3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2F91F0-3821-4BF2-8E21-F295831F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71BF1-F84F-4DCC-AB74-0A05AD79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3028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Create / Discard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162994-2912-41EA-8C6E-E57E8284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3325"/>
            <a:ext cx="11163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77121-4A13-456A-A744-8C263624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2724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Past date or 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A78000-5B13-469C-AE37-66416A48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433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75FCC-D3FA-46DF-B348-58630AAC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38575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Activation blocked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5A71A9-8459-4547-A383-56086782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433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398573-D094-4AEE-9D09-4298D727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38575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EC460-20DF-4256-858F-F98B4A9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433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1C5D65-E49F-46F7-85CE-D0AC385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38575"/>
            <a:ext cx="3028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Field-level error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F248C1-0305-4500-8840-7C3414DE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1163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B94F48-BEEA-4914-971D-DB226F7C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2724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Doctor schedule overlap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E9E0AE-4FF7-4E90-9256-8ADBDA2F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481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B3F634-6AAE-4634-B869-CFBD9323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Conflict blocked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22DA5E-7FF6-43DF-9852-4004B96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EF1AC5-EFD4-4BF1-BFC9-B04D4979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43400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47952F-28CF-4286-8C34-19C374E9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1EB456-2D30-4BC8-8EF4-BC5B5895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43400"/>
            <a:ext cx="3028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Existing patient named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0FD748-B841-46AE-8B1E-68CBB4A3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1163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02D0AD-0D39-440D-AAA0-7B00C05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2724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Patient / Doctor value help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AF2AB4-9458-473E-BD9D-F4DC690C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529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10D0CA-5607-4356-9C94-1EB70CDF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48225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Selectable records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136A42-6F97-49DF-B6C5-7E5A75E3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529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10153A-782A-440F-9643-63DE9F0B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48225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52FD64-A158-4B4F-96C8-0EFAA6CE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529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74FD50-99B8-404C-8392-06059210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48225"/>
            <a:ext cx="3028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ID + name displayed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B3F3EB-FFEC-4727-9EBF-9A1AF7AA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1163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E9A699-9479-42DC-A8D7-BCDD1DDA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2724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Duplicate master-data ID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3FB733-5C24-42FF-939E-D527E01D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578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3AA43A-7B1C-4D22-8EB3-1FA18BF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53050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Activation blocked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A41BC1-0250-4A41-B49A-8525EFFB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D5E234-891D-4734-90E2-87862322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53050"/>
            <a:ext cx="224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30BC7A-6F54-4899-ADC1-8F380C8B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578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B9776E-E68D-4948-97D5-C4054972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53050"/>
            <a:ext cx="3028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Validation message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9AE7B6-78EE-4557-9318-E9736133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Next: unified launchpad navigation, department maintenance, visit draft flow, automated ABAP Unit tests, and production role design.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C1016B-79C8-4EE5-B24F-DD7109A7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66DF55-AEDC-4AD9-8A02-A647B198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5616E"/>
                </a:solidFill>
                <a:latin typeface="Helvetica Neue"/>
                <a:ea typeface="Helvetica Neue"/>
                <a:cs typeface="Helvetica Neue"/>
              </a:rPr>
              <a:t>SRH University Munich | Applied Computer Science | SAP ABAP</a:t>
            </a:r>
          </a:p>
        </p:txBody>
      </p:sp>
    </p:spTree>
    <p:extLst>
      <p:ext uri="{BB962C8B-B14F-4D97-AF65-F5344CB8AC3E}">
        <p14:creationId xmlns:p14="http://schemas.microsoft.com/office/powerpoint/2010/main" val="12637685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772D3-3204-42F0-900F-E94F8EA8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LIVE DEMO +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A017B-9A86-49A6-B4B6-0900840A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6286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Show the workflow.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Explain the model.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Defend the choices.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72517-FA00-4F84-9645-7C2ED976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F9D06-B518-4709-A918-038F4931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appointment 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14053-2BAF-4B17-86CC-10886227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10 sec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A41A9-34DB-4AC1-8CE9-E91B7B6D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08CCA-BA45-443A-B758-6DC3BC69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Create a draft 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8346E-17FF-47A8-97CB-DB38AA5B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052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45 sec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D8163-E6F2-4C44-8ECD-FD8A74D3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D3E93-968F-4FF2-991E-632B72D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patient and doctor value help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E392C-7918-4A68-9206-F8FD4874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86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35 sec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79500-525F-46CE-B73C-81D6945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E8329-D05E-4B54-94F4-811113F4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Trigger past-date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B0D99-D83C-4D2F-B37D-B1BB3FFB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242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30 sec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8B244-4F0E-4E9F-AE2E-15B803A2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F37FC-3CC0-4E84-8412-5196AE8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Trigger doctor overlap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8F3DF-2869-47CB-B124-46357B98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052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40 sec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58A44-9CCA-4FE2-9F64-C04C352E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68615-7B2F-43F1-BF45-9945850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67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Correct, activate, and show object page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C1DC8-4B69-431F-B46D-2142D1B9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686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8BCC4"/>
                </a:solidFill>
                <a:latin typeface="Helvetica Neue"/>
                <a:ea typeface="Helvetica Neue"/>
                <a:cs typeface="Helvetica Neue"/>
              </a:rPr>
              <a:t>45 sec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50119-44AF-4A3F-8BA6-82567D86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864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62307-29AA-42EE-A7AE-88CA3E8A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Hospital scheduling with safer data, clearer choices, and a defendable RAP architecture.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1188A0-FCBA-4A18-8BE3-400A4C81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769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02310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2026-07-21T23:05:57.3360000Z</dcterms:created>
  <dcterms:modified xsi:type="dcterms:W3CDTF">2026-07-21T23:05:57.3360000Z</dcterms:modified>
</coreProperties>
</file>